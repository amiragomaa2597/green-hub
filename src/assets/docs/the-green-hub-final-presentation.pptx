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75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3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46702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923798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FA2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4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The Green Hub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1508760"/>
            <a:ext cx="6720840" cy="5029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999999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5943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6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Green Hub is a community center project that runs entirely on renewable energy and combines construction, engineering, and sustainability.
</a:t>
            </a: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6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represents the successful integration of professional project management principles with sustainable development practices — delivering measurable environmental, social, and economic value by combining renewable energy, smart technologies, and environmentally responsible design to inspire greener communities and foster a culture of green living.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5074920"/>
            <a:ext cx="5623560" cy="1234440"/>
          </a:xfrm>
          <a:prstGeom prst="rect">
            <a:avLst/>
          </a:prstGeom>
          <a:solidFill>
            <a:srgbClr val="E7F0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5193792"/>
            <a:ext cx="5166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1F4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“The Green Hub is a living embodiment of how professional project management converges with a vision of environmental sustainability to achieve a real, lasting impact on the community.”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178040" y="1783080"/>
            <a:ext cx="566928" cy="566928"/>
          </a:xfrm>
          <a:prstGeom prst="ellipse">
            <a:avLst/>
          </a:prstGeom>
          <a:solidFill>
            <a:srgbClr val="6FA28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/home/claude/icons/sol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6071" y="1851111"/>
            <a:ext cx="430865" cy="43086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909560" y="176479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Energy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909560" y="207568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PV, rainwater harvesting, smart systems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178040" y="2834640"/>
            <a:ext cx="566928" cy="566928"/>
          </a:xfrm>
          <a:prstGeom prst="ellipse">
            <a:avLst/>
          </a:prstGeom>
          <a:solidFill>
            <a:srgbClr val="6FA28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/home/claude/icons/us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6071" y="2902671"/>
            <a:ext cx="430865" cy="43086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909560" y="281635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Impact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7909560" y="312724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Education, coworking, training programs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7178040" y="3886200"/>
            <a:ext cx="566928" cy="566928"/>
          </a:xfrm>
          <a:prstGeom prst="ellipse">
            <a:avLst/>
          </a:prstGeom>
          <a:solidFill>
            <a:srgbClr val="6FA28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/home/claude/icons/lea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6071" y="3954231"/>
            <a:ext cx="430865" cy="43086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909560" y="386791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LEED Certified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7909560" y="417880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Environmentally responsible design standard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GREEN HUB  ·  MBA TEAM FINAL PROJECT — GROUP 5</a:t>
            </a:r>
            <a:endParaRPr lang="en-US" sz="900" b="1" dirty="0"/>
          </a:p>
        </p:txBody>
      </p:sp>
      <p:sp>
        <p:nvSpPr>
          <p:cNvPr id="21" name="Text 1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FA2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4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Team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498848" y="1554480"/>
            <a:ext cx="3200400" cy="868680"/>
          </a:xfrm>
          <a:prstGeom prst="roundRect">
            <a:avLst>
              <a:gd name="adj" fmla="val 8421"/>
            </a:avLst>
          </a:prstGeom>
          <a:solidFill>
            <a:srgbClr val="1F4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90288" y="162763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Ehab EL Nezamy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90288" y="19659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/ Advisor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094476" y="2423160"/>
            <a:ext cx="0" cy="320040"/>
          </a:xfrm>
          <a:prstGeom prst="line">
            <a:avLst/>
          </a:prstGeom>
          <a:noFill/>
          <a:ln w="19050">
            <a:solidFill>
              <a:srgbClr val="6FA2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32308" y="2788920"/>
            <a:ext cx="3429000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2700">
            <a:solidFill>
              <a:srgbClr val="E3E7E1"/>
            </a:solidFill>
            <a:prstDash val="solid"/>
          </a:ln>
          <a:effectLst>
            <a:outerShdw blurRad="76200" dist="12700" dir="5400000" algn="bl" rotWithShape="0">
              <a:srgbClr val="999999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60908" y="3017520"/>
            <a:ext cx="566928" cy="566928"/>
          </a:xfrm>
          <a:prstGeom prst="ellipse">
            <a:avLst/>
          </a:prstGeom>
          <a:solidFill>
            <a:srgbClr val="6FA28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0" descr="/home/claude/icons/userti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939" y="3085551"/>
            <a:ext cx="430865" cy="430865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592428" y="304495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Armia Kamal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592428" y="33832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Manager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381348" y="2788920"/>
            <a:ext cx="3429000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2700">
            <a:solidFill>
              <a:srgbClr val="E3E7E1"/>
            </a:solidFill>
            <a:prstDash val="solid"/>
          </a:ln>
          <a:effectLst>
            <a:outerShdw blurRad="76200" dist="12700" dir="5400000" algn="bl" rotWithShape="0">
              <a:srgbClr val="999999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609948" y="3017520"/>
            <a:ext cx="566928" cy="566928"/>
          </a:xfrm>
          <a:prstGeom prst="ellipse">
            <a:avLst/>
          </a:prstGeom>
          <a:solidFill>
            <a:srgbClr val="6FA28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1" descr="/home/claude/icons/calend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7979" y="3085551"/>
            <a:ext cx="430865" cy="430865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341468" y="304495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Ahab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5341468" y="33832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&amp; Scheduling Lead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8130388" y="2788920"/>
            <a:ext cx="3429000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2700">
            <a:solidFill>
              <a:srgbClr val="E3E7E1"/>
            </a:solidFill>
            <a:prstDash val="solid"/>
          </a:ln>
          <a:effectLst>
            <a:outerShdw blurRad="76200" dist="12700" dir="5400000" algn="bl" rotWithShape="0">
              <a:srgbClr val="999999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9" name="Shape 15"/>
          <p:cNvSpPr/>
          <p:nvPr/>
        </p:nvSpPr>
        <p:spPr>
          <a:xfrm>
            <a:off x="8358988" y="3017520"/>
            <a:ext cx="566928" cy="566928"/>
          </a:xfrm>
          <a:prstGeom prst="ellipse">
            <a:avLst/>
          </a:prstGeom>
          <a:solidFill>
            <a:srgbClr val="6FA28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2" descr="/home/claude/icons/bullsey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7019" y="3085551"/>
            <a:ext cx="430865" cy="430865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090508" y="304495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Michael Atef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9090508" y="33832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&amp; Risk Officer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632308" y="4480560"/>
            <a:ext cx="3429000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2700">
            <a:solidFill>
              <a:srgbClr val="E3E7E1"/>
            </a:solidFill>
            <a:prstDash val="solid"/>
          </a:ln>
          <a:effectLst>
            <a:outerShdw blurRad="76200" dist="12700" dir="5400000" algn="bl" rotWithShape="0">
              <a:srgbClr val="999999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860908" y="4709160"/>
            <a:ext cx="566928" cy="566928"/>
          </a:xfrm>
          <a:prstGeom prst="ellipse">
            <a:avLst/>
          </a:prstGeom>
          <a:solidFill>
            <a:srgbClr val="6FA28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3" descr="/home/claude/icons/coi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8939" y="4777191"/>
            <a:ext cx="430865" cy="430865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592428" y="473659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Salwa Michel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1592428" y="50749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&amp; Partners Officer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4381348" y="4480560"/>
            <a:ext cx="3429000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2700">
            <a:solidFill>
              <a:srgbClr val="E3E7E1"/>
            </a:solidFill>
            <a:prstDash val="solid"/>
          </a:ln>
          <a:effectLst>
            <a:outerShdw blurRad="76200" dist="12700" dir="5400000" algn="bl" rotWithShape="0">
              <a:srgbClr val="999999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3"/>
          <p:cNvSpPr/>
          <p:nvPr/>
        </p:nvSpPr>
        <p:spPr>
          <a:xfrm>
            <a:off x="4609948" y="4709160"/>
            <a:ext cx="566928" cy="566928"/>
          </a:xfrm>
          <a:prstGeom prst="ellipse">
            <a:avLst/>
          </a:prstGeom>
          <a:solidFill>
            <a:srgbClr val="6FA28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4" descr="/home/claude/icons/shiel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77979" y="4777191"/>
            <a:ext cx="430865" cy="430865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341468" y="473659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Shehab Badr</a:t>
            </a:r>
            <a:endParaRPr lang="en-US" sz="1500" dirty="0"/>
          </a:p>
        </p:txBody>
      </p:sp>
      <p:sp>
        <p:nvSpPr>
          <p:cNvPr id="32" name="Text 25"/>
          <p:cNvSpPr/>
          <p:nvPr/>
        </p:nvSpPr>
        <p:spPr>
          <a:xfrm>
            <a:off x="5341468" y="50749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&amp; Governance Officer</a:t>
            </a:r>
            <a:endParaRPr lang="en-US" sz="1200" dirty="0"/>
          </a:p>
        </p:txBody>
      </p:sp>
      <p:sp>
        <p:nvSpPr>
          <p:cNvPr id="33" name="Shape 26"/>
          <p:cNvSpPr/>
          <p:nvPr/>
        </p:nvSpPr>
        <p:spPr>
          <a:xfrm>
            <a:off x="8130388" y="4480560"/>
            <a:ext cx="3429000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2700">
            <a:solidFill>
              <a:srgbClr val="E3E7E1"/>
            </a:solidFill>
            <a:prstDash val="solid"/>
          </a:ln>
          <a:effectLst>
            <a:outerShdw blurRad="76200" dist="12700" dir="5400000" algn="bl" rotWithShape="0">
              <a:srgbClr val="999999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34" name="Shape 27"/>
          <p:cNvSpPr/>
          <p:nvPr/>
        </p:nvSpPr>
        <p:spPr>
          <a:xfrm>
            <a:off x="8358988" y="4709160"/>
            <a:ext cx="566928" cy="566928"/>
          </a:xfrm>
          <a:prstGeom prst="ellipse">
            <a:avLst/>
          </a:prstGeom>
          <a:solidFill>
            <a:srgbClr val="6FA28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5" name="Image 5" descr="/home/claude/icons/usershiel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27019" y="4777191"/>
            <a:ext cx="430865" cy="430865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9090508" y="473659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Amira Gomaa</a:t>
            </a:r>
            <a:endParaRPr lang="en-US" sz="1500" dirty="0"/>
          </a:p>
        </p:txBody>
      </p:sp>
      <p:sp>
        <p:nvSpPr>
          <p:cNvPr id="37" name="Text 29"/>
          <p:cNvSpPr/>
          <p:nvPr/>
        </p:nvSpPr>
        <p:spPr>
          <a:xfrm>
            <a:off x="9090508" y="50749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&amp; Audit Assistant</a:t>
            </a:r>
            <a:endParaRPr lang="en-US" sz="1200" dirty="0"/>
          </a:p>
        </p:txBody>
      </p:sp>
      <p:sp>
        <p:nvSpPr>
          <p:cNvPr id="38" name="Text 3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GREEN HUB  ·  MBA TEAM FINAL PROJECT — GROUP 5</a:t>
            </a:r>
            <a:endParaRPr lang="en-US" sz="900" b="1" dirty="0"/>
          </a:p>
        </p:txBody>
      </p:sp>
      <p:sp>
        <p:nvSpPr>
          <p:cNvPr id="39" name="Text 3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FA2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4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Statement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3E7E1"/>
            </a:solidFill>
            <a:prstDash val="solid"/>
          </a:ln>
          <a:effectLst>
            <a:outerShdw blurRad="63500" dist="12700" dir="5400000" algn="bl" rotWithShape="0">
              <a:srgbClr val="999999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82296" cy="2103120"/>
          </a:xfrm>
          <a:prstGeom prst="rect">
            <a:avLst/>
          </a:prstGeom>
          <a:solidFill>
            <a:srgbClr val="6FA2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764792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130552"/>
            <a:ext cx="48463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6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community center promoting environmental awareness and green living: renewable-energy-powered facility with smart technologies, educational workshops, recycling programs, coworking spaces, community activities.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63640" y="1600200"/>
            <a:ext cx="534924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3E7E1"/>
            </a:solidFill>
            <a:prstDash val="solid"/>
          </a:ln>
          <a:effectLst>
            <a:outerShdw blurRad="63500" dist="12700" dir="5400000" algn="bl" rotWithShape="0">
              <a:srgbClr val="999999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263640" y="1600200"/>
            <a:ext cx="82296" cy="2103120"/>
          </a:xfrm>
          <a:prstGeom prst="rect">
            <a:avLst/>
          </a:prstGeom>
          <a:solidFill>
            <a:srgbClr val="6FA2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537960" y="1764792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37960" y="2130552"/>
            <a:ext cx="48463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6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PV system · smart lighting &amp; HVAC controls · rainwater harvesting · recycling center · Building Management System (BMS).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931920"/>
            <a:ext cx="534924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3E7E1"/>
            </a:solidFill>
            <a:prstDash val="solid"/>
          </a:ln>
          <a:effectLst>
            <a:outerShdw blurRad="63500" dist="12700" dir="5400000" algn="bl" rotWithShape="0">
              <a:srgbClr val="999999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48640" y="3931920"/>
            <a:ext cx="82296" cy="2103120"/>
          </a:xfrm>
          <a:prstGeom prst="rect">
            <a:avLst/>
          </a:prstGeom>
          <a:solidFill>
            <a:srgbClr val="6FA2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" y="4096512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960" y="4462272"/>
            <a:ext cx="48463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6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charter · architectural &amp; engineering designs · completed sustainable building · renewable energy system · Smart BMS · community training program · final handover documentation.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63640" y="3931920"/>
            <a:ext cx="534924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3E7E1"/>
            </a:solidFill>
            <a:prstDash val="solid"/>
          </a:ln>
          <a:effectLst>
            <a:outerShdw blurRad="63500" dist="12700" dir="5400000" algn="bl" rotWithShape="0">
              <a:srgbClr val="999999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263640" y="3931920"/>
            <a:ext cx="82296" cy="2103120"/>
          </a:xfrm>
          <a:prstGeom prst="rect">
            <a:avLst/>
          </a:prstGeom>
          <a:solidFill>
            <a:srgbClr val="6FA2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537960" y="4096512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Boundaries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537960" y="4462272"/>
            <a:ext cx="48463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6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IN: site prep, construction, solar PV, rainwater, smart lighting/HVAC, landscaping, recycling center, training rooms, grand opening. OUT: other cities, residential, commercial retail, post-handover operation.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0728655" y="45720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of 2</a:t>
            </a:r>
            <a:endParaRPr lang="en-US" sz="1600" b="1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GREEN HUB  ·  MBA TEAM FINAL PROJECT — GROUP 5</a:t>
            </a:r>
            <a:endParaRPr lang="en-US" sz="900" b="1" dirty="0"/>
          </a:p>
        </p:txBody>
      </p:sp>
      <p:sp>
        <p:nvSpPr>
          <p:cNvPr id="22" name="Text 2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FA2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4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Statement — Strategy, Criteria &amp; Cost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728655" y="4572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of 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423160" y="1600200"/>
            <a:ext cx="61264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6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approved · permits on time · materials available · skilled contractors available · stable weather.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2203704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423160" y="2203704"/>
            <a:ext cx="61264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6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$1.2M budget · 40 weeks · LEED standards · local regulations · site limitations.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280720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423160" y="2807208"/>
            <a:ext cx="61264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6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phases: Initiation (2wk) → Planning (3wk) → Design (6wk) → Procurement (4wk) → Construction (20wk) → Testing (3wk) → Handover (2wk).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48640" y="341071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Criteria: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423160" y="3410712"/>
            <a:ext cx="61264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6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40 weeks · budget variance &lt; 5% · LEED certified · smart systems operational · client satisfaction ≥ 90% · zero lost-time accidents.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4041648"/>
            <a:ext cx="8001000" cy="0"/>
          </a:xfrm>
          <a:prstGeom prst="line">
            <a:avLst/>
          </a:prstGeom>
          <a:noFill/>
          <a:ln w="12700">
            <a:solidFill>
              <a:srgbClr val="DDE3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823960" y="1600200"/>
            <a:ext cx="2834640" cy="4663440"/>
          </a:xfrm>
          <a:prstGeom prst="roundRect">
            <a:avLst>
              <a:gd name="adj" fmla="val 2581"/>
            </a:avLst>
          </a:prstGeom>
          <a:solidFill>
            <a:srgbClr val="1F4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052560" y="180136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BREAKDOWN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052560" y="2167128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0561320" y="2167128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$60K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052560" y="2514600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0561320" y="251460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$450–750K*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9052560" y="2862072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PV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0561320" y="286207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$120K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9052560" y="3209544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Systems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0561320" y="3209544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$80K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9052560" y="3557016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MEP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0561320" y="3557016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$140K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9052560" y="3904488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Landscape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10561320" y="3904488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$40K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052560" y="4251960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Furniture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10561320" y="425196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$70K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9052560" y="4599432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Contingency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10561320" y="459943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$120K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9052560" y="4983480"/>
            <a:ext cx="2377440" cy="0"/>
          </a:xfrm>
          <a:prstGeom prst="line">
            <a:avLst/>
          </a:prstGeom>
          <a:noFill/>
          <a:ln w="12700">
            <a:solidFill>
              <a:srgbClr val="6FA2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9052560" y="507492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0287000" y="50749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$1.2M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052560" y="5568696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B9D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*Construction range shown in the Scope Statement; resolved to $570K in the Budget deliverable (Slide 9).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GREEN HUB  ·  MBA TEAM FINAL PROJECT — GROUP 5</a:t>
            </a:r>
            <a:endParaRPr lang="en-US" sz="900" b="1" dirty="0"/>
          </a:p>
        </p:txBody>
      </p:sp>
      <p:sp>
        <p:nvSpPr>
          <p:cNvPr id="37" name="Text 3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FA2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4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 Breakdown Structure (WBS)</a:t>
            </a:r>
            <a:endParaRPr lang="en-US" sz="3000" dirty="0"/>
          </a:p>
        </p:txBody>
      </p:sp>
      <p:pic>
        <p:nvPicPr>
          <p:cNvPr id="4" name="Image 0" descr="/home/claude/final_extracted/unpacked/word/media/image2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5428" y="1691640"/>
            <a:ext cx="672084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GREEN HUB  ·  MBA TEAM FINAL PROJECT — GROUP 5</a:t>
            </a:r>
            <a:endParaRPr lang="en-US" sz="900" b="1" dirty="0"/>
          </a:p>
        </p:txBody>
      </p:sp>
      <p:sp>
        <p:nvSpPr>
          <p:cNvPr id="6" name="Text 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FA2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4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Organizational Breakdown Structure (OBS)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the instructor's rule: PM at the top, same horizontal level = same authority, titles not names.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632808" y="1965960"/>
            <a:ext cx="2926080" cy="777240"/>
          </a:xfrm>
          <a:prstGeom prst="roundRect">
            <a:avLst>
              <a:gd name="adj" fmla="val 8235"/>
            </a:avLst>
          </a:prstGeom>
          <a:solidFill>
            <a:srgbClr val="1F4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632808" y="208483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632808" y="240487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Armia Kamal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095848" y="2743200"/>
            <a:ext cx="0" cy="320040"/>
          </a:xfrm>
          <a:prstGeom prst="line">
            <a:avLst/>
          </a:prstGeom>
          <a:noFill/>
          <a:ln w="19050">
            <a:solidFill>
              <a:srgbClr val="6FA2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417320" y="3063240"/>
            <a:ext cx="9357055" cy="0"/>
          </a:xfrm>
          <a:prstGeom prst="line">
            <a:avLst/>
          </a:prstGeom>
          <a:noFill/>
          <a:ln w="19050">
            <a:solidFill>
              <a:srgbClr val="6FA2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145640" y="3063240"/>
            <a:ext cx="0" cy="457200"/>
          </a:xfrm>
          <a:prstGeom prst="line">
            <a:avLst/>
          </a:prstGeom>
          <a:noFill/>
          <a:ln w="19050">
            <a:solidFill>
              <a:srgbClr val="6FA2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56920" y="3520440"/>
            <a:ext cx="23774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6FA2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48360" y="3630168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4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&amp; Scheduling Lead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48360" y="414223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Ahab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79112" y="3063240"/>
            <a:ext cx="0" cy="457200"/>
          </a:xfrm>
          <a:prstGeom prst="line">
            <a:avLst/>
          </a:prstGeom>
          <a:noFill/>
          <a:ln w="19050">
            <a:solidFill>
              <a:srgbClr val="6FA2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590392" y="3566160"/>
            <a:ext cx="23774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6FA287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681832" y="3630168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4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&amp; Risk Officer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81832" y="414223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Micheal Atef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412584" y="3063240"/>
            <a:ext cx="0" cy="457200"/>
          </a:xfrm>
          <a:prstGeom prst="line">
            <a:avLst/>
          </a:prstGeom>
          <a:noFill/>
          <a:ln w="19050">
            <a:solidFill>
              <a:srgbClr val="6FA2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223864" y="3520440"/>
            <a:ext cx="23774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6FA2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315304" y="3630168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4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&amp; Partners Officer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15304" y="414223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Salwa Michel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0046056" y="3063240"/>
            <a:ext cx="0" cy="457200"/>
          </a:xfrm>
          <a:prstGeom prst="line">
            <a:avLst/>
          </a:prstGeom>
          <a:noFill/>
          <a:ln w="19050">
            <a:solidFill>
              <a:srgbClr val="6FA2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857336" y="3520440"/>
            <a:ext cx="23774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6FA2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948776" y="3630168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4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&amp; Governance Officer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948776" y="414223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Shehab Badr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10046056" y="4434840"/>
            <a:ext cx="0" cy="320040"/>
          </a:xfrm>
          <a:prstGeom prst="line">
            <a:avLst/>
          </a:prstGeom>
          <a:noFill/>
          <a:ln w="19050">
            <a:solidFill>
              <a:srgbClr val="6FA2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8857336" y="4754880"/>
            <a:ext cx="2377440" cy="868680"/>
          </a:xfrm>
          <a:prstGeom prst="roundRect">
            <a:avLst>
              <a:gd name="adj" fmla="val 6316"/>
            </a:avLst>
          </a:prstGeom>
          <a:solidFill>
            <a:srgbClr val="E7F0EA"/>
          </a:solidFill>
          <a:ln w="12700">
            <a:solidFill>
              <a:srgbClr val="6FA287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8948776" y="4864608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4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&amp; Audit Assistant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948776" y="53035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Amira Gomaa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GREEN HUB  ·  MBA TEAM FINAL PROJECT — GROUP 5</a:t>
            </a:r>
            <a:endParaRPr lang="en-US" sz="900" b="1" dirty="0"/>
          </a:p>
        </p:txBody>
      </p:sp>
      <p:sp>
        <p:nvSpPr>
          <p:cNvPr id="31" name="Text 2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FA2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 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4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Budget — PMBOK Cost Structure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PMBOK Framework case study: aggregating costs &amp; allocating risk reserves for the Green Hub Project ($1,200K).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0728655" y="4572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of 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7452360" cy="886968"/>
          </a:xfrm>
          <a:prstGeom prst="roundRect">
            <a:avLst>
              <a:gd name="adj" fmla="val 6186"/>
            </a:avLst>
          </a:prstGeom>
          <a:solidFill>
            <a:srgbClr val="FFFFFF"/>
          </a:solidFill>
          <a:ln w="12700">
            <a:solidFill>
              <a:srgbClr val="E3E7E1"/>
            </a:solidFill>
            <a:prstDash val="solid"/>
          </a:ln>
          <a:effectLst>
            <a:outerShdw blurRad="63500" dist="12700" dir="5400000" algn="bl" rotWithShape="0">
              <a:srgbClr val="999999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13232" y="2212848"/>
            <a:ext cx="566928" cy="566928"/>
          </a:xfrm>
          <a:prstGeom prst="ellipse">
            <a:avLst/>
          </a:prstGeom>
          <a:solidFill>
            <a:srgbClr val="6FA2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13232" y="22128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508760" y="21488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Cost Level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508760" y="2478024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costs — labor, equipment, professional services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806440" y="21488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F4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$1,080K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806440" y="2478024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$1,080K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108960"/>
            <a:ext cx="7452360" cy="886968"/>
          </a:xfrm>
          <a:prstGeom prst="roundRect">
            <a:avLst>
              <a:gd name="adj" fmla="val 6186"/>
            </a:avLst>
          </a:prstGeom>
          <a:solidFill>
            <a:srgbClr val="FFFFFF"/>
          </a:solidFill>
          <a:ln w="12700">
            <a:solidFill>
              <a:srgbClr val="E3E7E1"/>
            </a:solidFill>
            <a:prstDash val="solid"/>
          </a:ln>
          <a:effectLst>
            <a:outerShdw blurRad="63500" dist="12700" dir="5400000" algn="bl" rotWithShape="0">
              <a:srgbClr val="999999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13232" y="3264408"/>
            <a:ext cx="566928" cy="566928"/>
          </a:xfrm>
          <a:prstGeom prst="ellipse">
            <a:avLst/>
          </a:prstGeom>
          <a:solidFill>
            <a:srgbClr val="6FA2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13232" y="326440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508760" y="320040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Package Level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508760" y="3529584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Activity Contingency Reserve ($38K)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806440" y="32004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F4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$38K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806440" y="3529584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$1,118K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160520"/>
            <a:ext cx="7452360" cy="886968"/>
          </a:xfrm>
          <a:prstGeom prst="roundRect">
            <a:avLst>
              <a:gd name="adj" fmla="val 6186"/>
            </a:avLst>
          </a:prstGeom>
          <a:solidFill>
            <a:srgbClr val="FFFFFF"/>
          </a:solidFill>
          <a:ln w="12700">
            <a:solidFill>
              <a:srgbClr val="E3E7E1"/>
            </a:solidFill>
            <a:prstDash val="solid"/>
          </a:ln>
          <a:effectLst>
            <a:outerShdw blurRad="63500" dist="12700" dir="5400000" algn="bl" rotWithShape="0">
              <a:srgbClr val="999999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13232" y="4315968"/>
            <a:ext cx="566928" cy="566928"/>
          </a:xfrm>
          <a:prstGeom prst="ellipse">
            <a:avLst/>
          </a:prstGeom>
          <a:solidFill>
            <a:srgbClr val="6FA2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13232" y="431596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508760" y="425196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Accounts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508760" y="4581144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Package Contingency ($40K) = Cost Baseline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806440" y="42519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F4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$40K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806440" y="4581144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$1,158K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5212080"/>
            <a:ext cx="7452360" cy="886968"/>
          </a:xfrm>
          <a:prstGeom prst="roundRect">
            <a:avLst>
              <a:gd name="adj" fmla="val 6186"/>
            </a:avLst>
          </a:prstGeom>
          <a:solidFill>
            <a:srgbClr val="1F4D2E"/>
          </a:solidFill>
          <a:ln w="12700">
            <a:solidFill>
              <a:srgbClr val="1F4D2E"/>
            </a:solidFill>
            <a:prstDash val="solid"/>
          </a:ln>
          <a:effectLst>
            <a:outerShdw blurRad="63500" dist="12700" dir="5400000" algn="bl" rotWithShape="0">
              <a:srgbClr val="999999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713232" y="5367528"/>
            <a:ext cx="566928" cy="56692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13232" y="536752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508760" y="530352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Project Budget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508760" y="5632704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Management Reserve ($42K)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806440" y="53035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$42K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806440" y="5632704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$1,200K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366760" y="18745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6FA2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OVERVIEW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366760" y="2286000"/>
            <a:ext cx="329184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3E7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8549640" y="2395728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4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90.0%</a:t>
            </a:r>
            <a:endParaRPr lang="en-US" sz="3000" dirty="0"/>
          </a:p>
        </p:txBody>
      </p:sp>
      <p:sp>
        <p:nvSpPr>
          <p:cNvPr id="37" name="Text 35"/>
          <p:cNvSpPr/>
          <p:nvPr/>
        </p:nvSpPr>
        <p:spPr>
          <a:xfrm>
            <a:off x="8549640" y="303580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Activity Execution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9784080" y="24688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6FA2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$1,080,000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8366760" y="3584448"/>
            <a:ext cx="329184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3E7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8549640" y="3694176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4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6.5%</a:t>
            </a:r>
            <a:endParaRPr lang="en-US" sz="3000" dirty="0"/>
          </a:p>
        </p:txBody>
      </p:sp>
      <p:sp>
        <p:nvSpPr>
          <p:cNvPr id="41" name="Text 39"/>
          <p:cNvSpPr/>
          <p:nvPr/>
        </p:nvSpPr>
        <p:spPr>
          <a:xfrm>
            <a:off x="8549640" y="433425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Contingency Reserves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9784080" y="3767328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6FA2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$78,000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8366760" y="4882896"/>
            <a:ext cx="329184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3E7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8549640" y="4992624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4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3.5%</a:t>
            </a:r>
            <a:endParaRPr lang="en-US" sz="3000" dirty="0"/>
          </a:p>
        </p:txBody>
      </p:sp>
      <p:sp>
        <p:nvSpPr>
          <p:cNvPr id="45" name="Text 43"/>
          <p:cNvSpPr/>
          <p:nvPr/>
        </p:nvSpPr>
        <p:spPr>
          <a:xfrm>
            <a:off x="8549640" y="563270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Reserve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9784080" y="5065776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6FA2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$42,000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GREEN HUB  ·  MBA TEAM FINAL PROJECT — GROUP 5</a:t>
            </a:r>
            <a:endParaRPr lang="en-US" sz="900" b="1" dirty="0"/>
          </a:p>
        </p:txBody>
      </p:sp>
      <p:sp>
        <p:nvSpPr>
          <p:cNvPr id="48" name="Text 4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FA2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 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4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Green Hub Budget Matrix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728655" y="4572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of 2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4023362"/>
        </p:xfrm>
        <a:graphic>
          <a:graphicData uri="http://schemas.openxmlformats.org/drawingml/2006/table">
            <a:tbl>
              <a:tblPr/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47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 Component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Amount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Reserve Ratio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Cumulative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D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47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63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Activity Cost (Direct Costs)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63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$1,080K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63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63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$1,080K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47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63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Activity Contingency Reserve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63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$38K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63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63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$1,118K (Work Package)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47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63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Contingency Reserve (Work Package)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63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$40K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63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63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$1,158K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47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63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Baseline / Control Account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63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$1,158K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63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63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$1,158K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47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63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Management Reserve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63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$42K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63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63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$1,200K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47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63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Project Budget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63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$1,200K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63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10.8% total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63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$1,200K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Steps: (1) direct activity costs → (2) + activity contingency → (3) + package contingency = Cost Baseline → (4) + management reserve = Total Budget.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GREEN HUB  ·  MBA TEAM FINAL PROJECT — GROUP 5</a:t>
            </a:r>
            <a:endParaRPr lang="en-US" sz="900" b="1" dirty="0"/>
          </a:p>
        </p:txBody>
      </p:sp>
      <p:sp>
        <p:nvSpPr>
          <p:cNvPr id="8" name="Text 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FA2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 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4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Stakeholder Analysis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 were identified from the project participants list, evaluated on power and interest, and plotted on a Power/Interest grid to set the engagement strategy for each.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728655" y="4572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of 2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11064240" cy="4023360"/>
        </p:xfrm>
        <a:graphic>
          <a:graphicData uri="http://schemas.openxmlformats.org/drawingml/2006/table">
            <a:tbl>
              <a:tblPr/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Stakeholder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Engagement Strategy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D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63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Sponsor / Investor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63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63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63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 Closely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63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Municipality (Permits)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63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63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63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 Satisfied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63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 Consultant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63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Med–High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63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63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 Closely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63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Contractor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63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63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63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 Closely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63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Suppliers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63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63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63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 Informed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63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Community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63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63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63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 Informed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63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Environmental Authority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63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63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63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 Satisfied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GREEN HUB  ·  MBA TEAM FINAL PROJECT — GROUP 5</a:t>
            </a:r>
            <a:endParaRPr lang="en-US" sz="900" b="1" dirty="0"/>
          </a:p>
        </p:txBody>
      </p:sp>
      <p:sp>
        <p:nvSpPr>
          <p:cNvPr id="8" name="Text 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FA2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 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4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/ Interest Grid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728655" y="4572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of 2</a:t>
            </a:r>
            <a:endParaRPr lang="en-US" sz="1100" dirty="0"/>
          </a:p>
        </p:txBody>
      </p:sp>
      <p:pic>
        <p:nvPicPr>
          <p:cNvPr id="5" name="Image 0" descr="/home/claude/final_extracted/unpacked/word/media/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54480"/>
            <a:ext cx="5820222" cy="466344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Text 3"/>
          <p:cNvSpPr/>
          <p:nvPr/>
        </p:nvSpPr>
        <p:spPr>
          <a:xfrm>
            <a:off x="6917502" y="1645920"/>
            <a:ext cx="472555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6FA2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CLOSELY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917502" y="1938528"/>
            <a:ext cx="4725553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6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Sponsor/Investor · Design Consultant · Contractor — the three relationships that most directly determine project success.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917502" y="2743200"/>
            <a:ext cx="472555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6FA2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SATISFIED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917502" y="3035808"/>
            <a:ext cx="4725553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6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Municipality · Environmental Authority — regulatory gatekeepers who can block progress without deep day-to-day involvement.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917502" y="3840480"/>
            <a:ext cx="472555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6FA2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INFORMED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917502" y="4133088"/>
            <a:ext cx="4725553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6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Community — affected by the project but with limited formal authority over it; managed through communication.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917502" y="4937760"/>
            <a:ext cx="472555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6FA2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917502" y="5230368"/>
            <a:ext cx="4725553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6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Suppliers — tracked primarily for delivery-schedule risk rather than active engagement.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GREEN HUB  ·  MBA TEAM FINAL PROJECT — GROUP 5</a:t>
            </a:r>
            <a:endParaRPr lang="en-US" sz="900" b="1" dirty="0"/>
          </a:p>
        </p:txBody>
      </p:sp>
      <p:sp>
        <p:nvSpPr>
          <p:cNvPr id="15" name="Text 1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FA2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 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4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Gantt Chart — 40-Week Schedule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the Scope Statement's 7-phase strategy, with WBS branches mapped along the timeline. Construction (20 weeks) splits into four WBS sub-branches with realistic overlap.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0728655" y="4572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of 2</a:t>
            </a:r>
            <a:endParaRPr lang="en-US" sz="1100" dirty="0"/>
          </a:p>
        </p:txBody>
      </p:sp>
      <p:pic>
        <p:nvPicPr>
          <p:cNvPr id="6" name="Image 0" descr="/home/claude/final_extracted/unpacked/word/media/image4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040" y="1828800"/>
            <a:ext cx="9611360" cy="4511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GREEN HUB  ·  MBA TEAM FINAL PROJECT — GROUP 5</a:t>
            </a:r>
            <a:endParaRPr lang="en-US" sz="900" b="1" dirty="0"/>
          </a:p>
        </p:txBody>
      </p:sp>
      <p:sp>
        <p:nvSpPr>
          <p:cNvPr id="8" name="Text 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FA2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 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4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Schedule Overview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728655" y="4572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of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activity detail — owners, descriptions, and SS/SF/FF/FS dependencies — maintained in the companion Excel sheet.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11064240" cy="4297683"/>
        </p:xfrm>
        <a:graphic>
          <a:graphicData uri="http://schemas.openxmlformats.org/drawingml/2006/table">
            <a:tbl>
              <a:tblPr/>
              <a:tblGrid>
                <a:gridCol w="4663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05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/ WBS Branch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 Wk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 Wk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WBS Ref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D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5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63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Management (continuous)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63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63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63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40wk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63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 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5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63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Initiation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63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63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63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2wk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63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5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63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63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63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63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3wk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63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1.2–1.4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5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63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 &amp; Engineering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63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63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63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6wk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63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 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5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63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Procurement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63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63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63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4wk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63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 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05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63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 Preparation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63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63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63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4wk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63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 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05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63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Building Construction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63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63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63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11wk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63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 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05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63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Green Systems Installation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63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63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63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9wk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63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 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05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63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Landscaping &amp; Outdoor Areas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63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63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63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7wk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63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 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05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63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63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63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63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3wk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63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6.1–6.2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05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63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Handover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63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63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63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2wk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63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6.3–6.4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05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63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Community Programs &amp; Launch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63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63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63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8wk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63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 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GREEN HUB  ·  MBA TEAM FINAL PROJECT — GROUP 5</a:t>
            </a:r>
            <a:endParaRPr lang="en-US" sz="900" b="1" dirty="0"/>
          </a:p>
        </p:txBody>
      </p:sp>
      <p:sp>
        <p:nvSpPr>
          <p:cNvPr id="8" name="Text 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FA2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MANAGEMENT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4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8 Project Risks &amp; Mitigation Plan</a:t>
            </a:r>
            <a:endParaRPr lang="en-US" sz="3000" dirty="0"/>
          </a:p>
        </p:txBody>
      </p:sp>
      <p:pic>
        <p:nvPicPr>
          <p:cNvPr id="4" name="Image 0" descr="/home/claude/final_extracted/unpacked/word/media/image5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6818" y="1417320"/>
            <a:ext cx="7338060" cy="4892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GREEN HUB  ·  MBA TEAM FINAL PROJECT — GROUP 5</a:t>
            </a:r>
            <a:endParaRPr lang="en-US" sz="900" b="1" dirty="0"/>
          </a:p>
        </p:txBody>
      </p:sp>
      <p:sp>
        <p:nvSpPr>
          <p:cNvPr id="6" name="Text 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47472"/>
            <a:ext cx="32004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F3F5C"/>
                </a:solidFill>
                <a:latin typeface="Aptos Display"/>
              </a:rPr>
              <a:t>PROJECT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41248"/>
            <a:ext cx="3977639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359639"/>
                </a:solidFill>
                <a:latin typeface="Aptos Display"/>
              </a:rPr>
              <a:t>Beyond Construction:
Long-Term Sustainable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874519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69747C"/>
                </a:solidFill>
                <a:latin typeface="Aptos"/>
              </a:rPr>
              <a:t>A practical impact on the environment, the community, and future operations.</a:t>
            </a:r>
          </a:p>
        </p:txBody>
      </p:sp>
      <p:sp>
        <p:nvSpPr>
          <p:cNvPr id="5" name="Oval 4"/>
          <p:cNvSpPr/>
          <p:nvPr/>
        </p:nvSpPr>
        <p:spPr>
          <a:xfrm>
            <a:off x="868680" y="2743200"/>
            <a:ext cx="2697480" cy="2697480"/>
          </a:xfrm>
          <a:prstGeom prst="ellipse">
            <a:avLst/>
          </a:prstGeom>
          <a:solidFill>
            <a:srgbClr val="E9F5EB"/>
          </a:solidFill>
          <a:ln w="12700">
            <a:solidFill>
              <a:srgbClr val="D1E7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emoji_her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3108960"/>
            <a:ext cx="777240" cy="777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34440" y="3977639"/>
            <a:ext cx="192024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900" b="1">
                <a:solidFill>
                  <a:srgbClr val="1F3F5C"/>
                </a:solidFill>
                <a:latin typeface="Aptos Display"/>
              </a:rPr>
              <a:t>Sustainable
Impact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74920" y="1417320"/>
            <a:ext cx="6199632" cy="640080"/>
          </a:xfrm>
          <a:prstGeom prst="roundRect">
            <a:avLst/>
          </a:prstGeom>
          <a:solidFill>
            <a:srgbClr val="F7FAF7"/>
          </a:solidFill>
          <a:ln w="9525">
            <a:solidFill>
              <a:srgbClr val="DCE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5257800" y="1527048"/>
            <a:ext cx="429768" cy="429768"/>
          </a:xfrm>
          <a:prstGeom prst="ellipse">
            <a:avLst/>
          </a:prstGeom>
          <a:solidFill>
            <a:srgbClr val="DFF2DF"/>
          </a:solidFill>
          <a:ln>
            <a:solidFill>
              <a:srgbClr val="C6E1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emoji_seedl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2664" y="1581912"/>
            <a:ext cx="320040" cy="3200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70448" y="1508760"/>
            <a:ext cx="5074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F3F5C"/>
                </a:solidFill>
                <a:latin typeface="Aptos Display"/>
              </a:rPr>
              <a:t>Reduce Carbon Emissions</a:t>
            </a:r>
          </a:p>
          <a:p>
            <a:pPr>
              <a:spcBef>
                <a:spcPts val="0"/>
              </a:spcBef>
            </a:pPr>
            <a:r>
              <a:rPr sz="880">
                <a:solidFill>
                  <a:srgbClr val="69747C"/>
                </a:solidFill>
                <a:latin typeface="Aptos"/>
              </a:rPr>
              <a:t>Lower footprint through efficient design and clean energy.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74920" y="2267712"/>
            <a:ext cx="6199632" cy="6400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5257800" y="2377440"/>
            <a:ext cx="429768" cy="429768"/>
          </a:xfrm>
          <a:prstGeom prst="ellipse">
            <a:avLst/>
          </a:prstGeom>
          <a:solidFill>
            <a:srgbClr val="DFF2DF"/>
          </a:solidFill>
          <a:ln>
            <a:solidFill>
              <a:srgbClr val="C6E1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emoji_bol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2664" y="2432304"/>
            <a:ext cx="320040" cy="3200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870448" y="2359152"/>
            <a:ext cx="5074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F3F5C"/>
                </a:solidFill>
                <a:latin typeface="Aptos Display"/>
              </a:rPr>
              <a:t>Renewable Energy</a:t>
            </a:r>
          </a:p>
          <a:p>
            <a:pPr>
              <a:spcBef>
                <a:spcPts val="0"/>
              </a:spcBef>
            </a:pPr>
            <a:r>
              <a:rPr sz="880">
                <a:solidFill>
                  <a:srgbClr val="69747C"/>
                </a:solidFill>
                <a:latin typeface="Aptos"/>
              </a:rPr>
              <a:t>Solar PV and smart controls support green operations.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74920" y="3118104"/>
            <a:ext cx="6199632" cy="640080"/>
          </a:xfrm>
          <a:prstGeom prst="roundRect">
            <a:avLst/>
          </a:prstGeom>
          <a:solidFill>
            <a:srgbClr val="F7FAF7"/>
          </a:solidFill>
          <a:ln w="9525">
            <a:solidFill>
              <a:srgbClr val="DCE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5257800" y="3227832"/>
            <a:ext cx="429768" cy="429768"/>
          </a:xfrm>
          <a:prstGeom prst="ellipse">
            <a:avLst/>
          </a:prstGeom>
          <a:solidFill>
            <a:srgbClr val="DFF2DF"/>
          </a:solidFill>
          <a:ln>
            <a:solidFill>
              <a:srgbClr val="C6E1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emoji_dro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12664" y="3282696"/>
            <a:ext cx="320040" cy="3200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870448" y="3209544"/>
            <a:ext cx="5074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F3F5C"/>
                </a:solidFill>
                <a:latin typeface="Aptos Display"/>
              </a:rPr>
              <a:t>Water Conservation</a:t>
            </a:r>
          </a:p>
          <a:p>
            <a:pPr>
              <a:spcBef>
                <a:spcPts val="0"/>
              </a:spcBef>
            </a:pPr>
            <a:r>
              <a:rPr sz="880">
                <a:solidFill>
                  <a:srgbClr val="69747C"/>
                </a:solidFill>
                <a:latin typeface="Aptos"/>
              </a:rPr>
              <a:t>Rainwater harvesting and recycling reduce waste.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74920" y="3968496"/>
            <a:ext cx="6199632" cy="6400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5257800" y="4078224"/>
            <a:ext cx="429768" cy="429768"/>
          </a:xfrm>
          <a:prstGeom prst="ellipse">
            <a:avLst/>
          </a:prstGeom>
          <a:solidFill>
            <a:srgbClr val="DFF2DF"/>
          </a:solidFill>
          <a:ln>
            <a:solidFill>
              <a:srgbClr val="C6E1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emoji_buildin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12664" y="4133087"/>
            <a:ext cx="320040" cy="32004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870448" y="4059935"/>
            <a:ext cx="5074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F3F5C"/>
                </a:solidFill>
                <a:latin typeface="Aptos Display"/>
              </a:rPr>
              <a:t>Community Development</a:t>
            </a:r>
          </a:p>
          <a:p>
            <a:pPr>
              <a:spcBef>
                <a:spcPts val="0"/>
              </a:spcBef>
            </a:pPr>
            <a:r>
              <a:rPr sz="880">
                <a:solidFill>
                  <a:srgbClr val="69747C"/>
                </a:solidFill>
                <a:latin typeface="Aptos"/>
              </a:rPr>
              <a:t>Education, training, and shared spaces create social value.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74920" y="4818888"/>
            <a:ext cx="6199632" cy="640080"/>
          </a:xfrm>
          <a:prstGeom prst="roundRect">
            <a:avLst/>
          </a:prstGeom>
          <a:solidFill>
            <a:srgbClr val="F7FAF7"/>
          </a:solidFill>
          <a:ln w="9525">
            <a:solidFill>
              <a:srgbClr val="DCE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5257800" y="4928616"/>
            <a:ext cx="429768" cy="429768"/>
          </a:xfrm>
          <a:prstGeom prst="ellipse">
            <a:avLst/>
          </a:prstGeom>
          <a:solidFill>
            <a:srgbClr val="DFF2DF"/>
          </a:solidFill>
          <a:ln>
            <a:solidFill>
              <a:srgbClr val="C6E1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emoji_char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12664" y="4983480"/>
            <a:ext cx="320040" cy="32004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870448" y="4910328"/>
            <a:ext cx="5074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F3F5C"/>
                </a:solidFill>
                <a:latin typeface="Aptos Display"/>
              </a:rPr>
              <a:t>Long-term Sustainability</a:t>
            </a:r>
          </a:p>
          <a:p>
            <a:pPr>
              <a:spcBef>
                <a:spcPts val="0"/>
              </a:spcBef>
            </a:pPr>
            <a:r>
              <a:rPr sz="880">
                <a:solidFill>
                  <a:srgbClr val="69747C"/>
                </a:solidFill>
                <a:latin typeface="Aptos"/>
              </a:rPr>
              <a:t>A scalable model with lasting social and economic benefit.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3023585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 dirty="0">
                <a:solidFill>
                  <a:srgbClr val="69747C"/>
                </a:solidFill>
                <a:latin typeface="Aptos"/>
              </a:rPr>
              <a:t>THE GREEN HUB  ·  MBA TEAM FINAL PROJECT — GROUP 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39" y="0"/>
            <a:ext cx="12185522" cy="685799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</TotalTime>
  <Words>1389</Words>
  <Application>Microsoft Office PowerPoint</Application>
  <PresentationFormat>Widescreen</PresentationFormat>
  <Paragraphs>328</Paragraphs>
  <Slides>16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Aptos</vt:lpstr>
      <vt:lpstr>Aptos Display</vt:lpstr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Salwa Michel</dc:creator>
  <cp:lastModifiedBy>Salwa Michel Saad</cp:lastModifiedBy>
  <cp:revision>7</cp:revision>
  <dcterms:created xsi:type="dcterms:W3CDTF">2026-08-01T07:29:06Z</dcterms:created>
  <dcterms:modified xsi:type="dcterms:W3CDTF">2026-08-02T10:44:40Z</dcterms:modified>
</cp:coreProperties>
</file>